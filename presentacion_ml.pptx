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Revenue Mensual (índice relativo)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mensual (£K)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Ene-10</c:v>
                </c:pt>
                <c:pt idx="1">
                  <c:v>Feb-10</c:v>
                </c:pt>
                <c:pt idx="2">
                  <c:v>Mar-10</c:v>
                </c:pt>
                <c:pt idx="3">
                  <c:v>Abr-10</c:v>
                </c:pt>
                <c:pt idx="4">
                  <c:v>May-10</c:v>
                </c:pt>
                <c:pt idx="5">
                  <c:v>Jun-10</c:v>
                </c:pt>
                <c:pt idx="6">
                  <c:v>Jul-10</c:v>
                </c:pt>
                <c:pt idx="7">
                  <c:v>Ago-10</c:v>
                </c:pt>
                <c:pt idx="8">
                  <c:v>Sep-10</c:v>
                </c:pt>
                <c:pt idx="9">
                  <c:v>Oct-10</c:v>
                </c:pt>
                <c:pt idx="10">
                  <c:v>Nov-10</c:v>
                </c:pt>
                <c:pt idx="11">
                  <c:v>Dic-10</c:v>
                </c:pt>
                <c:pt idx="12">
                  <c:v>Ene-11</c:v>
                </c:pt>
                <c:pt idx="13">
                  <c:v>Feb-11</c:v>
                </c:pt>
                <c:pt idx="14">
                  <c:v>Mar-11</c:v>
                </c:pt>
                <c:pt idx="15">
                  <c:v>Abr-11</c:v>
                </c:pt>
                <c:pt idx="16">
                  <c:v>May-11</c:v>
                </c:pt>
                <c:pt idx="17">
                  <c:v>Jun-11</c:v>
                </c:pt>
                <c:pt idx="18">
                  <c:v>Jul-11</c:v>
                </c:pt>
                <c:pt idx="19">
                  <c:v>Ago-11</c:v>
                </c:pt>
                <c:pt idx="20">
                  <c:v>Sep-11</c:v>
                </c:pt>
                <c:pt idx="21">
                  <c:v>Oct-11</c:v>
                </c:pt>
                <c:pt idx="22">
                  <c:v>Nov-11</c:v>
                </c:pt>
                <c:pt idx="23">
                  <c:v>Dic-11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420</c:v>
                </c:pt>
                <c:pt idx="1">
                  <c:v>390</c:v>
                </c:pt>
                <c:pt idx="2">
                  <c:v>510</c:v>
                </c:pt>
                <c:pt idx="3">
                  <c:v>480</c:v>
                </c:pt>
                <c:pt idx="4">
                  <c:v>530</c:v>
                </c:pt>
                <c:pt idx="5">
                  <c:v>560</c:v>
                </c:pt>
                <c:pt idx="6">
                  <c:v>440</c:v>
                </c:pt>
                <c:pt idx="7">
                  <c:v>380</c:v>
                </c:pt>
                <c:pt idx="8">
                  <c:v>590</c:v>
                </c:pt>
                <c:pt idx="9">
                  <c:v>720</c:v>
                </c:pt>
                <c:pt idx="10">
                  <c:v>1020</c:v>
                </c:pt>
                <c:pt idx="11">
                  <c:v>780</c:v>
                </c:pt>
                <c:pt idx="12">
                  <c:v>480</c:v>
                </c:pt>
                <c:pt idx="13">
                  <c:v>420</c:v>
                </c:pt>
                <c:pt idx="14">
                  <c:v>560</c:v>
                </c:pt>
                <c:pt idx="15">
                  <c:v>530</c:v>
                </c:pt>
                <c:pt idx="16">
                  <c:v>610</c:v>
                </c:pt>
                <c:pt idx="17">
                  <c:v>640</c:v>
                </c:pt>
                <c:pt idx="18">
                  <c:v>580</c:v>
                </c:pt>
                <c:pt idx="19">
                  <c:v>540</c:v>
                </c:pt>
                <c:pt idx="20">
                  <c:v>650</c:v>
                </c:pt>
                <c:pt idx="21">
                  <c:v>820</c:v>
                </c:pt>
                <c:pt idx="22">
                  <c:v>1240</c:v>
                </c:pt>
                <c:pt idx="23">
                  <c:v>560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D-4B0C-AC56-AF7DD471F7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Top 10 Países por Revenue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(índice)</c:v>
                </c:pt>
              </c:strCache>
            </c:strRef>
          </c:tx>
          <c:spPr>
            <a:solidFill>
              <a:srgbClr val="0F2D5B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United Kingdom</c:v>
                </c:pt>
                <c:pt idx="1">
                  <c:v>Germany</c:v>
                </c:pt>
                <c:pt idx="2">
                  <c:v>France</c:v>
                </c:pt>
                <c:pt idx="3">
                  <c:v>EIRE</c:v>
                </c:pt>
                <c:pt idx="4">
                  <c:v>Spain</c:v>
                </c:pt>
                <c:pt idx="5">
                  <c:v>Netherlands</c:v>
                </c:pt>
                <c:pt idx="6">
                  <c:v>Belgium</c:v>
                </c:pt>
                <c:pt idx="7">
                  <c:v>Switzerland</c:v>
                </c:pt>
                <c:pt idx="8">
                  <c:v>Portugal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9.1999999999999993</c:v>
                </c:pt>
                <c:pt idx="2">
                  <c:v>7.6</c:v>
                </c:pt>
                <c:pt idx="3">
                  <c:v>6.8</c:v>
                </c:pt>
                <c:pt idx="4">
                  <c:v>3.1</c:v>
                </c:pt>
                <c:pt idx="5">
                  <c:v>2.9</c:v>
                </c:pt>
                <c:pt idx="6">
                  <c:v>2.1</c:v>
                </c:pt>
                <c:pt idx="7">
                  <c:v>1.8</c:v>
                </c:pt>
                <c:pt idx="8">
                  <c:v>1.5</c:v>
                </c:pt>
                <c:pt idx="9">
                  <c:v>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1F-4DE6-95C8-13713A4400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F2D5B"/>
                </a:solidFill>
                <a:latin typeface="Arial"/>
              </a:rPr>
              <a:t>Distribución Etiqueta (label)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 etiqueta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2D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D8F-454B-B359-E48FE3B8BFA6}"/>
              </c:ext>
            </c:extLst>
          </c:dPt>
          <c:dPt>
            <c:idx val="1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D8F-454B-B359-E48FE3B8BFA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D8F-454B-B359-E48FE3B8BFA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D8F-454B-B359-E48FE3B8BFA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 recompró (61%)</c:v>
                </c:pt>
                <c:pt idx="1">
                  <c:v>Recompró (39%)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61</c:v>
                </c:pt>
                <c:pt idx="1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D8F-454B-B359-E48FE3B8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F2D5B"/>
                </a:solidFill>
                <a:latin typeface="Arial"/>
              </a:rPr>
              <a:t>Métricas RFM: Recompra vs No Recompra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recompró</c:v>
                </c:pt>
              </c:strCache>
            </c:strRef>
          </c:tx>
          <c:spPr>
            <a:solidFill>
              <a:srgbClr val="0F2D5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Recencia media (días)</c:v>
                </c:pt>
                <c:pt idx="1">
                  <c:v>Frecuencia media (facturas)</c:v>
                </c:pt>
                <c:pt idx="2">
                  <c:v>Revenue medio (£ index)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</c:v>
                </c:pt>
                <c:pt idx="1">
                  <c:v>3.2</c:v>
                </c:pt>
                <c:pt idx="2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AA-4131-9552-22DDA7C17B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Recompró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Recencia media (días)</c:v>
                </c:pt>
                <c:pt idx="1">
                  <c:v>Frecuencia media (facturas)</c:v>
                </c:pt>
                <c:pt idx="2">
                  <c:v>Revenue medio (£ index)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</c:v>
                </c:pt>
                <c:pt idx="1">
                  <c:v>8.9</c:v>
                </c:pt>
                <c:pt idx="2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AAA-4131-9552-22DDA7C17B5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CV AUC-ROC por Modelo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AUC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33C-4631-8F92-0C0CA5B6C56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33C-4631-8F92-0C0CA5B6C560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33C-4631-8F92-0C0CA5B6C560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33C-4631-8F92-0C0CA5B6C560}"/>
              </c:ext>
            </c:extLst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33C-4631-8F92-0C0CA5B6C56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Decision Tree</c:v>
                </c:pt>
                <c:pt idx="1">
                  <c:v>Baseline LR</c:v>
                </c:pt>
                <c:pt idx="2">
                  <c:v>Random Forest</c:v>
                </c:pt>
                <c:pt idx="3">
                  <c:v>Logistic Reg.</c:v>
                </c:pt>
                <c:pt idx="4">
                  <c:v>XGBoost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0.78190000000000004</c:v>
                </c:pt>
                <c:pt idx="1">
                  <c:v>0.78680000000000005</c:v>
                </c:pt>
                <c:pt idx="2">
                  <c:v>0.78959999999999997</c:v>
                </c:pt>
                <c:pt idx="3">
                  <c:v>0.7923</c:v>
                </c:pt>
                <c:pt idx="4">
                  <c:v>0.79379999999999995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33C-4631-8F92-0C0CA5B6C5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Curva ROC — XGBoost (Test)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XGBoost (AUC = 0.79)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0.00</c:v>
                </c:pt>
                <c:pt idx="1">
                  <c:v>0.05</c:v>
                </c:pt>
                <c:pt idx="2">
                  <c:v>0.10</c:v>
                </c:pt>
                <c:pt idx="3">
                  <c:v>0.15</c:v>
                </c:pt>
                <c:pt idx="4">
                  <c:v>0.20</c:v>
                </c:pt>
                <c:pt idx="5">
                  <c:v>0.30</c:v>
                </c:pt>
                <c:pt idx="6">
                  <c:v>0.40</c:v>
                </c:pt>
                <c:pt idx="7">
                  <c:v>0.50</c:v>
                </c:pt>
                <c:pt idx="8">
                  <c:v>0.60</c:v>
                </c:pt>
                <c:pt idx="9">
                  <c:v>0.70</c:v>
                </c:pt>
                <c:pt idx="10">
                  <c:v>0.80</c:v>
                </c:pt>
                <c:pt idx="11">
                  <c:v>0.90</c:v>
                </c:pt>
                <c:pt idx="12">
                  <c:v>1.00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0.22</c:v>
                </c:pt>
                <c:pt idx="2">
                  <c:v>0.38</c:v>
                </c:pt>
                <c:pt idx="3">
                  <c:v>0.5</c:v>
                </c:pt>
                <c:pt idx="4">
                  <c:v>0.6</c:v>
                </c:pt>
                <c:pt idx="5">
                  <c:v>0.73</c:v>
                </c:pt>
                <c:pt idx="6">
                  <c:v>0.82</c:v>
                </c:pt>
                <c:pt idx="7">
                  <c:v>0.87</c:v>
                </c:pt>
                <c:pt idx="8">
                  <c:v>0.91</c:v>
                </c:pt>
                <c:pt idx="9">
                  <c:v>0.94</c:v>
                </c:pt>
                <c:pt idx="10">
                  <c:v>0.96</c:v>
                </c:pt>
                <c:pt idx="11">
                  <c:v>0.98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9C4-4492-B24D-FB54962B0C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ln w="31750" cap="flat">
              <a:solidFill>
                <a:srgbClr val="6474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4748B"/>
              </a:solidFill>
              <a:ln w="9525" cap="flat">
                <a:solidFill>
                  <a:srgbClr val="64748B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0.00</c:v>
                </c:pt>
                <c:pt idx="1">
                  <c:v>0.05</c:v>
                </c:pt>
                <c:pt idx="2">
                  <c:v>0.10</c:v>
                </c:pt>
                <c:pt idx="3">
                  <c:v>0.15</c:v>
                </c:pt>
                <c:pt idx="4">
                  <c:v>0.20</c:v>
                </c:pt>
                <c:pt idx="5">
                  <c:v>0.30</c:v>
                </c:pt>
                <c:pt idx="6">
                  <c:v>0.40</c:v>
                </c:pt>
                <c:pt idx="7">
                  <c:v>0.50</c:v>
                </c:pt>
                <c:pt idx="8">
                  <c:v>0.60</c:v>
                </c:pt>
                <c:pt idx="9">
                  <c:v>0.70</c:v>
                </c:pt>
                <c:pt idx="10">
                  <c:v>0.80</c:v>
                </c:pt>
                <c:pt idx="11">
                  <c:v>0.90</c:v>
                </c:pt>
                <c:pt idx="12">
                  <c:v>1.00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0.3</c:v>
                </c:pt>
                <c:pt idx="6">
                  <c:v>0.4</c:v>
                </c:pt>
                <c:pt idx="7">
                  <c:v>0.5</c:v>
                </c:pt>
                <c:pt idx="8">
                  <c:v>0.6</c:v>
                </c:pt>
                <c:pt idx="9">
                  <c:v>0.7</c:v>
                </c:pt>
                <c:pt idx="10">
                  <c:v>0.8</c:v>
                </c:pt>
                <c:pt idx="11">
                  <c:v>0.9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9C4-4492-B24D-FB54962B0C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ES" b="0" i="0" u="none" strike="noStrike">
                    <a:solidFill>
                      <a:srgbClr val="000000"/>
                    </a:solidFill>
                    <a:latin typeface="Arial"/>
                  </a:rPr>
                  <a:t>Tasa de Falsos Positivos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ES" b="0" i="0" u="none" strike="noStrike">
                    <a:solidFill>
                      <a:srgbClr val="000000"/>
                    </a:solidFill>
                    <a:latin typeface="Arial"/>
                  </a:rPr>
                  <a:t>Tasa de Verdaderos Positivos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Variables más Importantes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Coeficiente (importancia)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revenue_total</c:v>
                </c:pt>
                <c:pt idx="1">
                  <c:v>n_paises</c:v>
                </c:pt>
                <c:pt idx="2">
                  <c:v>ticket_medio</c:v>
                </c:pt>
                <c:pt idx="3">
                  <c:v>n_productos</c:v>
                </c:pt>
                <c:pt idx="4">
                  <c:v>frecuencia</c:v>
                </c:pt>
                <c:pt idx="5">
                  <c:v>recencia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-0.01</c:v>
                </c:pt>
                <c:pt idx="1">
                  <c:v>0.04</c:v>
                </c:pt>
                <c:pt idx="2">
                  <c:v>0.04</c:v>
                </c:pt>
                <c:pt idx="3">
                  <c:v>0.46</c:v>
                </c:pt>
                <c:pt idx="4">
                  <c:v>0.73</c:v>
                </c:pt>
                <c:pt idx="5">
                  <c:v>0.82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6D-499C-9733-5B7E68C1A20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D5B"/>
                </a:solidFill>
                <a:latin typeface="Arial"/>
              </a:defRPr>
            </a:pPr>
            <a:r>
              <a:rPr lang="es-ES" sz="1300" b="0" i="0" u="none" strike="noStrike">
                <a:solidFill>
                  <a:srgbClr val="0F2D5B"/>
                </a:solidFill>
                <a:latin typeface="Arial"/>
              </a:rPr>
              <a:t>Métricas según Umbral de Decisión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Umbral 0.5</c:v>
                </c:pt>
                <c:pt idx="1">
                  <c:v>Umbral 0.6</c:v>
                </c:pt>
                <c:pt idx="2">
                  <c:v>Umbral 0.7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0.68</c:v>
                </c:pt>
                <c:pt idx="1">
                  <c:v>0.75</c:v>
                </c:pt>
                <c:pt idx="2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CB-47C2-89AD-0F7197159D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Umbral 0.5</c:v>
                </c:pt>
                <c:pt idx="1">
                  <c:v>Umbral 0.6</c:v>
                </c:pt>
                <c:pt idx="2">
                  <c:v>Umbral 0.7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0.54</c:v>
                </c:pt>
                <c:pt idx="1">
                  <c:v>0.38</c:v>
                </c:pt>
                <c:pt idx="2">
                  <c:v>0.24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CB-47C2-89AD-0F7197159D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Umbral 0.5</c:v>
                </c:pt>
                <c:pt idx="1">
                  <c:v>Umbral 0.6</c:v>
                </c:pt>
                <c:pt idx="2">
                  <c:v>Umbral 0.7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0.72</c:v>
                </c:pt>
                <c:pt idx="1">
                  <c:v>0.71</c:v>
                </c:pt>
                <c:pt idx="2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7CB-47C2-89AD-0F7197159D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1451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5943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Fidelización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Recompra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comportamiento de cliente mediante Machine Learning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429000"/>
            <a:ext cx="621792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Víctor Horcas Puertas  ·  Máster Data Science &amp; IA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0" y="731520"/>
            <a:ext cx="2286000" cy="3749040"/>
          </a:xfrm>
          <a:prstGeom prst="rect">
            <a:avLst/>
          </a:prstGeom>
          <a:solidFill>
            <a:srgbClr val="0B6E6E">
              <a:alpha val="80000"/>
            </a:srgbClr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720840" y="9144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20840" y="12618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evaluados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208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0.79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20840" y="208483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resultado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2084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~4.300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20840" y="290779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analizados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208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Segmentos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720840" y="3730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acción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Asunciones y Limpieza de Datos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1965960" cy="9601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1,067,371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146304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originales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1965960" cy="9601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468880" y="100584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~797K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468880" y="146304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limpias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960120"/>
            <a:ext cx="1965960" cy="9601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617720" y="100584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17720" y="146304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únicos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960120"/>
            <a:ext cx="1965960" cy="9601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766560" y="100584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2009–2011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766560" y="146304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temporal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" y="2148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aplicados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487168"/>
          <a:ext cx="8503920" cy="211226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eliminadas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 "C…" (cancelaciones)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~9,288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son ventas reales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Customer 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~243,007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asignables a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≤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inválidos / devoluciones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≤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Artículos gratuitos o errores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Outliers p99.9 (qty / precio)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~1,050 (0.14%)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extremos irrepresentables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Duplicados exactos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duplicados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320040" y="2487168"/>
            <a:ext cx="8503920" cy="301752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411480" y="2487168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246120" y="2487168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eliminadas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2487168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del Dataset: Fecha de Corte y Features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09728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5303520" cy="384048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2009 → Sep 2011  ·  FEATURES (histórico de comportamiento)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868680"/>
            <a:ext cx="2926080" cy="384048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943600" y="89611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→ Dic 2011  ·  ETIQUETA (¿recompró?)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50992" y="804672"/>
            <a:ext cx="36576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212080" y="181051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01-Oct-2011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377440"/>
            <a:ext cx="8412480" cy="384048"/>
          </a:xfrm>
          <a:prstGeom prst="rect">
            <a:avLst/>
          </a:prstGeom>
          <a:solidFill>
            <a:srgbClr val="0F2D5B">
              <a:alpha val="90000"/>
            </a:srgbClr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Esta separación temporal previene el data leakage: el modelo nunca ve el futuro durante el entrenamiento.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construidas (1 fila por cliente)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84124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83080" y="329184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desde la última compra hasta el corte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32918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Negativo → cuanto más reciente, mejor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538728"/>
            <a:ext cx="84124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57200" y="353872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783080" y="35387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facturas distintas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5387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Positivo → más facturas = más fidelidad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785616"/>
            <a:ext cx="84124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57200" y="378561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revenue_total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783080" y="378561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 acumulado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378561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Positivo → cliente de mayor valor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032504"/>
            <a:ext cx="84124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57200" y="403250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ticket_medio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83080" y="4032504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medio por factura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403250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según perfil (mayorista / minorista)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279392"/>
            <a:ext cx="84124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57200" y="427939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n_productos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783080" y="427939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únicos comprados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0" y="427939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Positivo → mayor engagement catálogo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4526280"/>
            <a:ext cx="84124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57200" y="45262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n_paises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783080" y="452628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 desde los que ha comprado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452628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perfil internacional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773168"/>
            <a:ext cx="84124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457200" y="477316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783080" y="47731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 de compra más frecuente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0" y="47731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categórica (OneHotEncoded)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Comportamiento de Ventas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53035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3767328"/>
            <a:ext cx="5303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Los picos de Q4 (Oct-Dic) concentran ~35% del revenue anual. Los meses de verano registran caídas sistemáticas. El modelo aprovecha esta estacionalidad a través de la recencia y la frecuencia.</a:t>
            </a:r>
            <a:endParaRPr lang="en-US" sz="11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5760720" y="960120"/>
          <a:ext cx="32004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5760720" y="3767328"/>
            <a:ext cx="3200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/>
          <p:nvPr/>
        </p:nvSpPr>
        <p:spPr>
          <a:xfrm>
            <a:off x="5897880" y="37947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UK domina con ~85% del revenue. Los 9 países restantes son un nicho de expansión con alto potencial de fidelización.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Perfil del Cliente y Distribución de Recompra</a:t>
            </a:r>
            <a:endParaRPr lang="en-US" sz="2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34747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3767328"/>
            <a:ext cx="3474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45720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39% de recompra es una distribución razonablemente equilibrada. No requiere técnicas de balanceo de clases.</a:t>
            </a:r>
            <a:endParaRPr lang="en-US" sz="11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3977640" y="960120"/>
          <a:ext cx="4937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3977640" y="3767328"/>
            <a:ext cx="4937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/>
          <p:nvPr/>
        </p:nvSpPr>
        <p:spPr>
          <a:xfrm>
            <a:off x="4114800" y="37947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Los clientes que recompran tienen una recencia 2.7x más baja, una frecuencia 2.8x mayor y un revenue 2x más alto. Son las variables más predictoras.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 Comparativa y Selección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960120"/>
            <a:ext cx="3154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669280" y="960120"/>
            <a:ext cx="3154680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5760720" y="96012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Modelo Ganador: XGBoost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806440" y="143560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CV (train)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14356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0.7938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806440" y="175564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Test (final)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175564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06440" y="207568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CV-Test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80960" y="20756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806440" y="2395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680960" y="23957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806440" y="2715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680960" y="2715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806440" y="303580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680960" y="30358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806440" y="335584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0" y="335584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20040" y="4315968"/>
            <a:ext cx="8503920" cy="548640"/>
          </a:xfrm>
          <a:prstGeom prst="rect">
            <a:avLst/>
          </a:prstGeom>
          <a:solidFill>
            <a:srgbClr val="0F2D5B">
              <a:alpha val="95000"/>
            </a:srgbClr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457200" y="433425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ha sido evaluado una única vez al final — nunca durante la fase de selección de modelo. Esto garantiza una estimación de rendimiento no sesgada.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del Modelo y Variables Clave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43891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983480" y="960120"/>
          <a:ext cx="38404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4297680"/>
            <a:ext cx="8503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Recencia y frecuencia dominan la predicción.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recencia negativa confirma: cuanto más reciente es la última compra, más probable es que el cliente vuelva. La frecuencia amplifica esta señal.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del Umbral: Precisión vs Cobertura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074920" y="960120"/>
            <a:ext cx="1234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74920" y="960120"/>
            <a:ext cx="12344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5074920" y="96012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0.5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74920" y="138988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masiva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74920" y="17373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68%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74920" y="199339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54%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74920" y="23042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 clientes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129784" y="2606040"/>
            <a:ext cx="11247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Máxima cobertura, menor precisión. Ideal si el coste de la campaña es bajo.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28232" y="960120"/>
            <a:ext cx="1234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6428232" y="960120"/>
            <a:ext cx="1234440" cy="384048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428232" y="96012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0.6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28232" y="138988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28232" y="17373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75%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28232" y="199339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38%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28232" y="23042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clientes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83096" y="2606040"/>
            <a:ext cx="11247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óptimo entre recursos invertidos y captación. Recomendado para uso general.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81544" y="960120"/>
            <a:ext cx="1234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9"/>
          <p:cNvSpPr/>
          <p:nvPr/>
        </p:nvSpPr>
        <p:spPr>
          <a:xfrm>
            <a:off x="7781544" y="960120"/>
            <a:ext cx="123444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7781544" y="96012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0.7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781544" y="138988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certeza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781544" y="17373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79%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781544" y="199339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24%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781544" y="23042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clientes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36408" y="2606040"/>
            <a:ext cx="11247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selectivo. Ideal si el incentivo por cliente es de alto coste (descuento premium).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" y="4133088"/>
            <a:ext cx="8503920" cy="713232"/>
          </a:xfrm>
          <a:prstGeom prst="rect">
            <a:avLst/>
          </a:prstGeom>
          <a:solidFill>
            <a:srgbClr val="0F2D5B">
              <a:alpha val="95000"/>
            </a:srgbClr>
          </a:solidFill>
          <a:ln w="12700">
            <a:solidFill>
              <a:srgbClr val="0F2D5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457200" y="41513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Recomendación: comenzar con umbral 0.6 y ajustar según el coste real de cada error de negocio. Si el incentivo es económicamente costoso, subir a 0.7.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Uso: Segmentos de Acción por Cliente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474720" y="960120"/>
            <a:ext cx="2194560" cy="594360"/>
          </a:xfrm>
          <a:prstGeom prst="rect">
            <a:avLst/>
          </a:prstGeom>
          <a:solidFill>
            <a:srgbClr val="0F2D5B"/>
          </a:solidFill>
          <a:ln w="12700">
            <a:solidFill>
              <a:srgbClr val="0F2D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520440" y="960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XGBoost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P(recompra) por cliente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719072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320040" y="1719072"/>
            <a:ext cx="2743200" cy="47548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71907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FIDELIZACIÓN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&gt; 0.7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24963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clientes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" y="2788920"/>
            <a:ext cx="252374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exclusivos "Premium"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anticipado a nuevas colecciones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puntos acelerado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Invitación a eventos de cliente VIP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535424"/>
            <a:ext cx="2743200" cy="329184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74904" y="454456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aumentar ticket medio y frecuencia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4408" y="1719072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3264408" y="1719072"/>
            <a:ext cx="27432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264408" y="171907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NURTURING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64408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≤ P ≤ 0.7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64408" y="24963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~210 clientes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74136" y="2788920"/>
            <a:ext cx="252374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personalizada por historial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basadas en n_productos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de productos favoritos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de segunda compra (cross-sell)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64408" y="4535424"/>
            <a:ext cx="2743200" cy="329184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319272" y="454456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aumentar la frecuencia de compra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1719072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6208776" y="1719072"/>
            <a:ext cx="2743200" cy="47548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6208776" y="171907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RETENCIÓN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08776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08776" y="24963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~390 clientes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8504" y="2788920"/>
            <a:ext cx="252374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de reactivación con oferta especial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satisfacción + incentivo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 de recuperación (win-back)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por recencia extrema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08776" y="4535424"/>
            <a:ext cx="2743200" cy="329184"/>
          </a:xfrm>
          <a:prstGeom prst="rect">
            <a:avLst/>
          </a:prstGeom>
          <a:solidFill>
            <a:srgbClr val="EF4444">
              <a:alpha val="25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6263640" y="454456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recuperar clientes en riesgo de abandono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D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20040" y="10058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XGBoost es el modelo ganador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 0.79 en test, con diferencia mínima respecto al CV (0.001). Sin overfitting.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9202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Recencia y frecuencia, clave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dos variables más predictoras. Un cliente que compró recientemente y con frecuencia tiene un 70%+ de probabilidad de recompra.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834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Umbral ajustable al negocio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2724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por defecto (0.5) puede ajustarse a 0.6-0.7 para priorizar precisión sobre cobertura según el coste del incentivo.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37490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Dataset limpio y sin leakage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04164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temporal estricta entre features y etiqueta garantiza evaluación honesta del modelo.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274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983480" y="1005840"/>
            <a:ext cx="3840480" cy="86868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120640" y="102412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Ajuste fino del umbral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13167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Cuantificar coste real de FP (campaña desperdiciada) vs FN (cliente perdido) para elegir el umbral óptimo de negocio.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83480" y="1965960"/>
            <a:ext cx="3840480" cy="86868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5120640" y="198424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Features adicionales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27685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Estacionalidad, días entre compras, categoría de producto preferida, RFM avanzado.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83480" y="2926080"/>
            <a:ext cx="3840480" cy="86868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120640" y="294436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Reentrenamiento periódico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20640" y="323697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comportamiento de los clientes cambia. Programar reentrenamiento mensual o trimestral.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83480" y="3886200"/>
            <a:ext cx="3840480" cy="86868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120640" y="390448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Segmentación mayorista/minorista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419709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separados para perfiles de compra muy distintos.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1019</Words>
  <Application>Microsoft Office PowerPoint</Application>
  <PresentationFormat>Presentación en pantalla (16:9)</PresentationFormat>
  <Paragraphs>184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Fidelización y Recompra</dc:title>
  <dc:subject>PptxGenJS Presentation</dc:subject>
  <dc:creator>PptxGenJS</dc:creator>
  <cp:lastModifiedBy>VICTOR HORCAS PUERTAS</cp:lastModifiedBy>
  <cp:revision>2</cp:revision>
  <dcterms:created xsi:type="dcterms:W3CDTF">2026-03-25T18:43:16Z</dcterms:created>
  <dcterms:modified xsi:type="dcterms:W3CDTF">2026-03-25T19:04:21Z</dcterms:modified>
</cp:coreProperties>
</file>