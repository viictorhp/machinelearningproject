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59" r:id="rId5"/>
    <p:sldId id="262" r:id="rId6"/>
    <p:sldId id="263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9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0F2D5B"/>
                </a:solidFill>
                <a:latin typeface="Arial"/>
              </a:rPr>
              <a:t>Revenue Mensual (índice relativo)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mensual (£K)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Ene-10</c:v>
                </c:pt>
                <c:pt idx="1">
                  <c:v>Feb-10</c:v>
                </c:pt>
                <c:pt idx="2">
                  <c:v>Mar-10</c:v>
                </c:pt>
                <c:pt idx="3">
                  <c:v>Abr-10</c:v>
                </c:pt>
                <c:pt idx="4">
                  <c:v>May-10</c:v>
                </c:pt>
                <c:pt idx="5">
                  <c:v>Jun-10</c:v>
                </c:pt>
                <c:pt idx="6">
                  <c:v>Jul-10</c:v>
                </c:pt>
                <c:pt idx="7">
                  <c:v>Ago-10</c:v>
                </c:pt>
                <c:pt idx="8">
                  <c:v>Sep-10</c:v>
                </c:pt>
                <c:pt idx="9">
                  <c:v>Oct-10</c:v>
                </c:pt>
                <c:pt idx="10">
                  <c:v>Nov-10</c:v>
                </c:pt>
                <c:pt idx="11">
                  <c:v>Dic-10</c:v>
                </c:pt>
                <c:pt idx="12">
                  <c:v>Ene-11</c:v>
                </c:pt>
                <c:pt idx="13">
                  <c:v>Feb-11</c:v>
                </c:pt>
                <c:pt idx="14">
                  <c:v>Mar-11</c:v>
                </c:pt>
                <c:pt idx="15">
                  <c:v>Abr-11</c:v>
                </c:pt>
                <c:pt idx="16">
                  <c:v>May-11</c:v>
                </c:pt>
                <c:pt idx="17">
                  <c:v>Jun-11</c:v>
                </c:pt>
                <c:pt idx="18">
                  <c:v>Jul-11</c:v>
                </c:pt>
                <c:pt idx="19">
                  <c:v>Ago-11</c:v>
                </c:pt>
                <c:pt idx="20">
                  <c:v>Sep-11</c:v>
                </c:pt>
                <c:pt idx="21">
                  <c:v>Oct-11</c:v>
                </c:pt>
                <c:pt idx="22">
                  <c:v>Nov-11</c:v>
                </c:pt>
                <c:pt idx="23">
                  <c:v>Dic-11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420</c:v>
                </c:pt>
                <c:pt idx="1">
                  <c:v>390</c:v>
                </c:pt>
                <c:pt idx="2">
                  <c:v>510</c:v>
                </c:pt>
                <c:pt idx="3">
                  <c:v>480</c:v>
                </c:pt>
                <c:pt idx="4">
                  <c:v>530</c:v>
                </c:pt>
                <c:pt idx="5">
                  <c:v>560</c:v>
                </c:pt>
                <c:pt idx="6">
                  <c:v>440</c:v>
                </c:pt>
                <c:pt idx="7">
                  <c:v>380</c:v>
                </c:pt>
                <c:pt idx="8">
                  <c:v>590</c:v>
                </c:pt>
                <c:pt idx="9">
                  <c:v>720</c:v>
                </c:pt>
                <c:pt idx="10">
                  <c:v>1020</c:v>
                </c:pt>
                <c:pt idx="11">
                  <c:v>780</c:v>
                </c:pt>
                <c:pt idx="12">
                  <c:v>480</c:v>
                </c:pt>
                <c:pt idx="13">
                  <c:v>420</c:v>
                </c:pt>
                <c:pt idx="14">
                  <c:v>560</c:v>
                </c:pt>
                <c:pt idx="15">
                  <c:v>530</c:v>
                </c:pt>
                <c:pt idx="16">
                  <c:v>610</c:v>
                </c:pt>
                <c:pt idx="17">
                  <c:v>640</c:v>
                </c:pt>
                <c:pt idx="18">
                  <c:v>580</c:v>
                </c:pt>
                <c:pt idx="19">
                  <c:v>540</c:v>
                </c:pt>
                <c:pt idx="20">
                  <c:v>650</c:v>
                </c:pt>
                <c:pt idx="21">
                  <c:v>820</c:v>
                </c:pt>
                <c:pt idx="22">
                  <c:v>1240</c:v>
                </c:pt>
                <c:pt idx="23">
                  <c:v>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D-4B0C-AC56-AF7DD471F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0F2D5B"/>
                </a:solidFill>
                <a:latin typeface="Arial"/>
              </a:rPr>
              <a:t>Top 10 Países por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(índice)</c:v>
                </c:pt>
              </c:strCache>
            </c:strRef>
          </c:tx>
          <c:spPr>
            <a:solidFill>
              <a:srgbClr val="0F2D5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United Kingdom</c:v>
                </c:pt>
                <c:pt idx="1">
                  <c:v>Germany</c:v>
                </c:pt>
                <c:pt idx="2">
                  <c:v>France</c:v>
                </c:pt>
                <c:pt idx="3">
                  <c:v>EIRE</c:v>
                </c:pt>
                <c:pt idx="4">
                  <c:v>Spain</c:v>
                </c:pt>
                <c:pt idx="5">
                  <c:v>Netherlands</c:v>
                </c:pt>
                <c:pt idx="6">
                  <c:v>Belgium</c:v>
                </c:pt>
                <c:pt idx="7">
                  <c:v>Switzerland</c:v>
                </c:pt>
                <c:pt idx="8">
                  <c:v>Portugal</c:v>
                </c:pt>
                <c:pt idx="9">
                  <c:v>Australia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9.1999999999999993</c:v>
                </c:pt>
                <c:pt idx="2">
                  <c:v>7.6</c:v>
                </c:pt>
                <c:pt idx="3">
                  <c:v>6.8</c:v>
                </c:pt>
                <c:pt idx="4">
                  <c:v>3.1</c:v>
                </c:pt>
                <c:pt idx="5">
                  <c:v>2.9</c:v>
                </c:pt>
                <c:pt idx="6">
                  <c:v>2.1</c:v>
                </c:pt>
                <c:pt idx="7">
                  <c:v>1.8</c:v>
                </c:pt>
                <c:pt idx="8">
                  <c:v>1.5</c:v>
                </c:pt>
                <c:pt idx="9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F-4DE6-95C8-13713A440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0F2D5B"/>
                </a:solidFill>
                <a:latin typeface="Arial"/>
              </a:rPr>
              <a:t>CV AUC-ROC por Modelo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3C-4631-8F92-0C0CA5B6C56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33C-4631-8F92-0C0CA5B6C56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33C-4631-8F92-0C0CA5B6C560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3C-4631-8F92-0C0CA5B6C560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3C-4631-8F92-0C0CA5B6C56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Baseline LR</c:v>
                </c:pt>
                <c:pt idx="2">
                  <c:v>Random Forest</c:v>
                </c:pt>
                <c:pt idx="3">
                  <c:v>Logistic Reg.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0.78190000000000004</c:v>
                </c:pt>
                <c:pt idx="1">
                  <c:v>0.78680000000000005</c:v>
                </c:pt>
                <c:pt idx="2">
                  <c:v>0.78959999999999997</c:v>
                </c:pt>
                <c:pt idx="3">
                  <c:v>0.7923</c:v>
                </c:pt>
                <c:pt idx="4">
                  <c:v>0.79379999999999995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3C-4631-8F92-0C0CA5B6C5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0F2D5B"/>
                </a:solidFill>
                <a:latin typeface="Arial"/>
              </a:rPr>
              <a:t>Curva ROC — XGBoost (Test)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(AUC = 0.79)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0.30</c:v>
                </c:pt>
                <c:pt idx="6">
                  <c:v>0.40</c:v>
                </c:pt>
                <c:pt idx="7">
                  <c:v>0.50</c:v>
                </c:pt>
                <c:pt idx="8">
                  <c:v>0.60</c:v>
                </c:pt>
                <c:pt idx="9">
                  <c:v>0.70</c:v>
                </c:pt>
                <c:pt idx="10">
                  <c:v>0.80</c:v>
                </c:pt>
                <c:pt idx="11">
                  <c:v>0.90</c:v>
                </c:pt>
                <c:pt idx="12">
                  <c:v>1.00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0.22</c:v>
                </c:pt>
                <c:pt idx="2">
                  <c:v>0.38</c:v>
                </c:pt>
                <c:pt idx="3">
                  <c:v>0.5</c:v>
                </c:pt>
                <c:pt idx="4">
                  <c:v>0.6</c:v>
                </c:pt>
                <c:pt idx="5">
                  <c:v>0.73</c:v>
                </c:pt>
                <c:pt idx="6">
                  <c:v>0.82</c:v>
                </c:pt>
                <c:pt idx="7">
                  <c:v>0.87</c:v>
                </c:pt>
                <c:pt idx="8">
                  <c:v>0.91</c:v>
                </c:pt>
                <c:pt idx="9">
                  <c:v>0.94</c:v>
                </c:pt>
                <c:pt idx="10">
                  <c:v>0.96</c:v>
                </c:pt>
                <c:pt idx="11">
                  <c:v>0.98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C4-4492-B24D-FB54962B0C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0.30</c:v>
                </c:pt>
                <c:pt idx="6">
                  <c:v>0.40</c:v>
                </c:pt>
                <c:pt idx="7">
                  <c:v>0.50</c:v>
                </c:pt>
                <c:pt idx="8">
                  <c:v>0.60</c:v>
                </c:pt>
                <c:pt idx="9">
                  <c:v>0.70</c:v>
                </c:pt>
                <c:pt idx="10">
                  <c:v>0.80</c:v>
                </c:pt>
                <c:pt idx="11">
                  <c:v>0.90</c:v>
                </c:pt>
                <c:pt idx="12">
                  <c:v>1.00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9C4-4492-B24D-FB54962B0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ES" b="0" i="0" u="none" strike="noStrike">
                    <a:solidFill>
                      <a:srgbClr val="000000"/>
                    </a:solidFill>
                    <a:latin typeface="Arial"/>
                  </a:rPr>
                  <a:t>Tasa de Falsos Positivos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ES" b="0" i="0" u="none" strike="noStrike">
                    <a:solidFill>
                      <a:srgbClr val="000000"/>
                    </a:solidFill>
                    <a:latin typeface="Arial"/>
                  </a:rPr>
                  <a:t>Tasa de Verdaderos Positivos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D5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0F2D5B"/>
                </a:solidFill>
                <a:latin typeface="Arial"/>
              </a:rPr>
              <a:t>Variables más Importantes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 (importancia)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layout>
                <c:manualLayout>
                  <c:x val="-6.944418406032579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93-4244-9BF0-EEFFE8087AF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revenue_total</c:v>
                </c:pt>
                <c:pt idx="1">
                  <c:v>n_paises</c:v>
                </c:pt>
                <c:pt idx="2">
                  <c:v>ticket_medio</c:v>
                </c:pt>
                <c:pt idx="3">
                  <c:v>n_productos</c:v>
                </c:pt>
                <c:pt idx="4">
                  <c:v>frecuencia</c:v>
                </c:pt>
                <c:pt idx="5">
                  <c:v>recencia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-0.01</c:v>
                </c:pt>
                <c:pt idx="1">
                  <c:v>0.04</c:v>
                </c:pt>
                <c:pt idx="2">
                  <c:v>0.04</c:v>
                </c:pt>
                <c:pt idx="3">
                  <c:v>0.46</c:v>
                </c:pt>
                <c:pt idx="4">
                  <c:v>0.73</c:v>
                </c:pt>
                <c:pt idx="5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93-4244-9BF0-EEFFE8087A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451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Fidelización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Recompra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comportamiento de cliente mediante Machine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6217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Horcas Puertas  ·  Máster Data Science &amp; IA · Evolve Academy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697230"/>
            <a:ext cx="2286000" cy="2814066"/>
          </a:xfrm>
          <a:prstGeom prst="rect">
            <a:avLst/>
          </a:prstGeom>
          <a:solidFill>
            <a:srgbClr val="0B6E6E">
              <a:alpha val="80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42973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892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0.7938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64531" y="2159943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resultado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566851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~5.400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64531" y="2839865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analizados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3730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Asunciones y Limpieza de Datos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122714" y="1293223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aplicados</a:t>
            </a:r>
            <a:endParaRPr lang="en-US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92338"/>
              </p:ext>
            </p:extLst>
          </p:nvPr>
        </p:nvGraphicFramePr>
        <p:xfrm>
          <a:off x="339634" y="1664208"/>
          <a:ext cx="8503920" cy="25694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 eliminadas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 "C…" (cancelaciones)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son ventas reales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Customer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asignables a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inválidos / devoluciones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gratuitos o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de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99.9)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extremos irrepresentables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Duplicados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exactos</a:t>
                      </a:r>
                      <a:endParaRPr lang="en-US" sz="12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duplicados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</a:t>
                      </a:r>
                      <a:endParaRPr lang="en-US" sz="12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Registros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nulos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62761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39634" y="1664208"/>
            <a:ext cx="8503920" cy="301752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431074" y="166420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65714" y="166420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eliminadas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94514" y="16642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Comportamiento de Ventas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6012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767328"/>
            <a:ext cx="5303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(Oct-Dic)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35% del revenue anual. Los meses de verano registran caídas sistemáticas. El modelo aprovecha esta estacionalidad a través de la recencia y la frecuencia.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760720" y="96012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3767328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5897880" y="3794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 con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85%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revenue. Los 9 países restantes son un nicho de expansión con alto potencial de fidelización.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Dataset: Fecha de Corte 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30352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2009 → Sep 2011  ·  FEATURES (histórico de comportamiento)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868680"/>
            <a:ext cx="29260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0" y="8961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→ Dic 2011  ·  ETIQUETA (¿recompró?)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50992" y="804672"/>
            <a:ext cx="36576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12080" y="18105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01-Oct-2011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384048"/>
          </a:xfrm>
          <a:prstGeom prst="rect">
            <a:avLst/>
          </a:prstGeom>
          <a:solidFill>
            <a:srgbClr val="0F2D5B">
              <a:alpha val="90000"/>
            </a:srgbClr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Esta separación temporal previene el data leakage: el modelo nunca ve el futuro durante el entrenamiento.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</a:t>
            </a:r>
            <a:r>
              <a:rPr lang="en-US" sz="1300" dirty="0" err="1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construidas</a:t>
            </a:r>
            <a:r>
              <a:rPr lang="en-US" sz="1300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</a:t>
            </a:r>
            <a:r>
              <a:rPr lang="en-US" sz="1300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b="1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cliente</a:t>
            </a:r>
            <a:r>
              <a:rPr lang="en-US" sz="1300" dirty="0">
                <a:solidFill>
                  <a:srgbClr val="0F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7922623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291840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desde la última compra hasta el corte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38728"/>
            <a:ext cx="7922623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538728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facturas distintas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7922623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7200" y="3785616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785616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acumulado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7922623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457200" y="4032504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ticket_medio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4032504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medio por factura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79392"/>
            <a:ext cx="7922623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n_productos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279392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únicos comprados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7922623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n_paises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526280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desde los que ha comprado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773168"/>
            <a:ext cx="7922623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120561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783080" y="4773168"/>
            <a:ext cx="301404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de compra más frecuente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Comparativa y Selección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601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154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669280" y="960120"/>
            <a:ext cx="3154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0720" y="96012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Modelo Ganador: XGBoost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435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CV (train)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1435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0644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Test (final)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2075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CV-Test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23957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715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2715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06440" y="3035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80960" y="30358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3355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65423" y="3355848"/>
            <a:ext cx="122137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0F2D5B">
              <a:alpha val="95000"/>
            </a:srgbClr>
          </a:solidFill>
          <a:ln w="12700">
            <a:solidFill>
              <a:srgbClr val="0F2D5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457200" y="4334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ha sido evaluado una única vez al final — nunca durante la fase de selección de modelo. Esto garantiza una estimación de rendimiento no sesgada.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del Modelo y Variables Clave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6012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183380"/>
            <a:ext cx="8503920" cy="6812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frecuencia dominan la predicción.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recencia negativa confirma: cuanto más reciente es la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es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probable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cliente vuelva. La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graphicFrame>
        <p:nvGraphicFramePr>
          <p:cNvPr id="10" name="Chart 1">
            <a:extLst>
              <a:ext uri="{FF2B5EF4-FFF2-40B4-BE49-F238E27FC236}">
                <a16:creationId xmlns:a16="http://schemas.microsoft.com/office/drawing/2014/main" id="{A7C20B11-781B-A145-DA4C-112DCBFCCE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45369"/>
              </p:ext>
            </p:extLst>
          </p:nvPr>
        </p:nvGraphicFramePr>
        <p:xfrm>
          <a:off x="4937760" y="946404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Uso: Segmentos de Acción por Cliente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60120"/>
            <a:ext cx="2194560" cy="594360"/>
          </a:xfrm>
          <a:prstGeom prst="rect">
            <a:avLst/>
          </a:prstGeom>
          <a:solidFill>
            <a:srgbClr val="0F2D5B"/>
          </a:solidFill>
          <a:ln w="12700">
            <a:solidFill>
              <a:srgbClr val="0F2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520440" y="9601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XGBoost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 =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cliente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27432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FIDELIZACIÓN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clientes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exclusivos "Premium"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anticipado a nuevas colecciones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puntos acelerado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a eventos de cliente VIP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535424"/>
            <a:ext cx="2743200" cy="329184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74904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aumentar ticket medio y frecuencia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64408" y="1719072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264408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NURTURING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≤ P ≤ 0.7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 clientes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personalizada por historial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basadas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únicos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 productos favoritos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segunda compra (cross-sell)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4535424"/>
            <a:ext cx="2743200" cy="32918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19272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aumentar la frecuencia de compra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171907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208776" y="1719072"/>
            <a:ext cx="27432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208776" y="1719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RETENCIÓN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08776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08776" y="24963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~390 clientes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reactivación con oferta especial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 + incentivo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recencia extrema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08776" y="4535424"/>
            <a:ext cx="2743200" cy="329184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263640" y="4544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recuperar clientes en riesgo de abandono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XGBoost es el modelo ganador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0.79 en test, con diferencia mínima respecto al CV (0.001). Sin overfitting.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Recencia y frecuencia, clave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dos variables más predictoras. Un cliente que compró recientemente y con frecuencia tiene un 70% + de probabilidad de recompra.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Umbral ajustable al negocio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por defecto (0.5) puede ajustarse a 0.6 o 0.7 para priorizar precisión sobre cobertura según el coste del incentivo.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3749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limpio y sin leakage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temporal estricta entre features y etiqueta garantiza evaluación honesta del modelo.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4920" y="274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83480" y="100584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120640" y="1024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del umbral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3167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coste real de FP (campaña desperdiciada) vs FN (cliente perdido) para elegir el umbral óptimo de negocio.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96596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120640" y="1984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features adicionales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276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Estacionalidad, días entre compras, categoría de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120640" y="2944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periódico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2369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de los clientes cambia. Programar reentrenamiento mensual o trimestral.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3886200"/>
            <a:ext cx="3840480" cy="8686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120640" y="39044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197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separados para perfiles de compra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minoristas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i="1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mayoristas</a:t>
            </a: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782</Words>
  <Application>Microsoft Office PowerPoint</Application>
  <PresentationFormat>Presentación en pantalla (16:9)</PresentationFormat>
  <Paragraphs>143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Fidelización y Recompra</dc:title>
  <dc:subject>PptxGenJS Presentation</dc:subject>
  <dc:creator>PptxGenJS</dc:creator>
  <cp:lastModifiedBy>VICTOR HORCAS PUERTAS</cp:lastModifiedBy>
  <cp:revision>4</cp:revision>
  <dcterms:created xsi:type="dcterms:W3CDTF">2026-03-25T18:43:16Z</dcterms:created>
  <dcterms:modified xsi:type="dcterms:W3CDTF">2026-03-26T16:17:03Z</dcterms:modified>
</cp:coreProperties>
</file>